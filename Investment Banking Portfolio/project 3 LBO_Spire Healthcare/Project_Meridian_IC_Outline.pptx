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MERIDIAN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Hypothetical Healthcare LBO | Preliminary Investment Committee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| Deal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Target: Spire Healthcare Group plc</a:t>
            </a:r>
          </a:p>
          <a:p>
            <a:pPr>
              <a:defRPr sz="2200"/>
            </a:pPr>
            <a:r>
              <a:t>Purpose: assess entry price, debt capacity, deleveraging and downside resilience</a:t>
            </a:r>
          </a:p>
          <a:p>
            <a:pPr>
              <a:defRPr sz="2200"/>
            </a:pPr>
            <a:r>
              <a:t>Status: preliminary screening case; not an investment 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| Company and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UK private hospital and healthcare services operator</a:t>
            </a:r>
          </a:p>
          <a:p>
            <a:pPr>
              <a:defRPr sz="2200"/>
            </a:pPr>
            <a:r>
              <a:t>Assess service lines, payer mix, utilisation, capacity and competitive positioning</a:t>
            </a:r>
          </a:p>
          <a:p>
            <a:pPr>
              <a:defRPr sz="2200"/>
            </a:pPr>
            <a:r>
              <a:t>Use company disclosures and reputable sector 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| Historical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FY2025 revenue: £1,579.8m (reported)</a:t>
            </a:r>
          </a:p>
          <a:p>
            <a:pPr>
              <a:defRPr sz="2200"/>
            </a:pPr>
            <a:r>
              <a:t>FY2025 adjusted EBITDA: £268.6m (reported)</a:t>
            </a:r>
          </a:p>
          <a:p>
            <a:pPr>
              <a:defRPr sz="2200"/>
            </a:pPr>
            <a:r>
              <a:t>FY2024 adjusted EBITDA: £260.0m; FY2025 revenue growth: 4.5% (reported)</a:t>
            </a:r>
          </a:p>
          <a:p>
            <a:pPr>
              <a:defRPr sz="2200"/>
            </a:pPr>
            <a:r>
              <a:t>Source: Spire Healthcare Annual Report and Accounts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| Investment thesis to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Established operating platform and observable service demand</a:t>
            </a:r>
          </a:p>
          <a:p>
            <a:pPr>
              <a:defRPr sz="2200"/>
            </a:pPr>
            <a:r>
              <a:t>Potential utilisation, procurement and workforce productivity initiatives</a:t>
            </a:r>
          </a:p>
          <a:p>
            <a:pPr>
              <a:defRPr sz="2200"/>
            </a:pPr>
            <a:r>
              <a:t>Cash generation and debt paydown only after capex, tax, interest and leases</a:t>
            </a:r>
          </a:p>
          <a:p>
            <a:pPr>
              <a:defRPr sz="2200"/>
            </a:pPr>
            <a:r>
              <a:t>Do not rely on multiple expansion to make the deal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| Transaction structure and 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Set entry EV/EBITDA using comparable company and transaction evidence</a:t>
            </a:r>
          </a:p>
          <a:p>
            <a:pPr>
              <a:defRPr sz="2200"/>
            </a:pPr>
            <a:r>
              <a:t>Build full enterprise-to-equity bridge and sources &amp; uses</a:t>
            </a:r>
          </a:p>
          <a:p>
            <a:pPr>
              <a:defRPr sz="2200"/>
            </a:pPr>
            <a:r>
              <a:t>Include existing debt, cash, leases, pension and other debt-like items</a:t>
            </a:r>
          </a:p>
          <a:p>
            <a:pPr>
              <a:defRPr sz="2200"/>
            </a:pPr>
            <a:r>
              <a:t>Label all assumptions separately from reported facts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| Operating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Model volume, pricing, mix, staffing, utilisation and procurement</a:t>
            </a:r>
          </a:p>
          <a:p>
            <a:pPr>
              <a:defRPr sz="2200"/>
            </a:pPr>
            <a:r>
              <a:t>Assign timing, owner, cost, and evidence to each initiative</a:t>
            </a:r>
          </a:p>
          <a:p>
            <a:pPr>
              <a:defRPr sz="2200"/>
            </a:pPr>
            <a:r>
              <a:t>Protect patient safety and clinical outcomes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 | LBO and debt paydown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Five-year revenue and EBITDA projections</a:t>
            </a:r>
          </a:p>
          <a:p>
            <a:pPr>
              <a:defRPr sz="2200"/>
            </a:pPr>
            <a:r>
              <a:t>Fully integrated cash flow after capex, tax, working capital, interest and leases</a:t>
            </a:r>
          </a:p>
          <a:p>
            <a:pPr>
              <a:defRPr sz="2200"/>
            </a:pPr>
            <a:r>
              <a:t>Annual debt balances, leverage, interest coverage and covenant headroom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 | Sponsor returns and sensitivities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Gross MOIC and IRR</a:t>
            </a:r>
          </a:p>
          <a:p>
            <a:pPr>
              <a:defRPr sz="2200"/>
            </a:pPr>
            <a:r>
              <a:t>Entry multiple vs exit multiple</a:t>
            </a:r>
          </a:p>
          <a:p>
            <a:pPr>
              <a:defRPr sz="2200"/>
            </a:pPr>
            <a:r>
              <a:t>Stress revenue, margins, interest rates, capex and exit valuation</a:t>
            </a:r>
          </a:p>
          <a:p>
            <a:pPr>
              <a:defRPr sz="2200"/>
            </a:pPr>
            <a:r>
              <a:t>Show downside and severe downside, not only the base case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 | Key risks and diligence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Clinical quality, regulation and litigation</a:t>
            </a:r>
          </a:p>
          <a:p>
            <a:pPr>
              <a:defRPr sz="2200"/>
            </a:pPr>
            <a:r>
              <a:t>Staffing inflation, capacity and payer mix</a:t>
            </a:r>
          </a:p>
          <a:p>
            <a:pPr>
              <a:defRPr sz="2200"/>
            </a:pPr>
            <a:r>
              <a:t>Capex, lease obligations, debt maturity and refinancing risk</a:t>
            </a:r>
          </a:p>
          <a:p>
            <a:pPr>
              <a:defRPr sz="2200"/>
            </a:pPr>
            <a:r>
              <a:t>Document source gaps and diligence owners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| Recommendation /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Proceed only after historicals and purchase-price bridge are reconciled</a:t>
            </a:r>
          </a:p>
          <a:p>
            <a:pPr>
              <a:defRPr sz="2200"/>
            </a:pPr>
            <a:r>
              <a:t>Replace screening assumptions with sourced inputs</a:t>
            </a:r>
          </a:p>
          <a:p>
            <a:pPr>
              <a:defRPr sz="2200"/>
            </a:pPr>
            <a:r>
              <a:t>Validate formulas and downside debt-service capacity</a:t>
            </a:r>
          </a:p>
          <a:p>
            <a:pPr>
              <a:defRPr sz="2200"/>
            </a:pPr>
            <a:r>
              <a:t>Decision should depend on valuation discipline and downside protection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